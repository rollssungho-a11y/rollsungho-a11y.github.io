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ko-G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9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70"/>
  </p:normalViewPr>
  <p:slideViewPr>
    <p:cSldViewPr snapToGrid="0">
      <p:cViewPr varScale="1">
        <p:scale>
          <a:sx n="88" d="100"/>
          <a:sy n="88" d="100"/>
        </p:scale>
        <p:origin x="176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5F1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E7ACF6A7-58A7-4C7B-B0FE-E523F00E352D}"/>
              </a:ext>
            </a:extLst>
          </p:cNvPr>
          <p:cNvSpPr>
            <a:spLocks noGrp="1"/>
          </p:cNvSpPr>
          <p:nvPr/>
        </p:nvSpPr>
        <p:spPr>
          <a:xfrm>
            <a:off x="9763125" y="0"/>
            <a:ext cx="2428875" cy="685800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9F5EEF6-8306-434C-BACD-CFB43E26ACED}"/>
              </a:ext>
            </a:extLst>
          </p:cNvPr>
          <p:cNvSpPr>
            <a:spLocks noGrp="1"/>
          </p:cNvSpPr>
          <p:nvPr/>
        </p:nvSpPr>
        <p:spPr>
          <a:xfrm>
            <a:off x="9639300" y="0"/>
            <a:ext cx="123825" cy="6858000"/>
          </a:xfrm>
          <a:prstGeom prst="rect">
            <a:avLst/>
          </a:prstGeom>
          <a:solidFill>
            <a:srgbClr val="B8322A"/>
          </a:solidFill>
          <a:ln w="0">
            <a:noFill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5CC5592-A546-48C7-B1FA-0ABFD28F0AE2}"/>
              </a:ext>
            </a:extLst>
          </p:cNvPr>
          <p:cNvSpPr>
            <a:spLocks noGrp="1"/>
          </p:cNvSpPr>
          <p:nvPr/>
        </p:nvSpPr>
        <p:spPr>
          <a:xfrm>
            <a:off x="762000" y="571500"/>
            <a:ext cx="952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2250" b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2250" b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TDC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C06DBBD-98C7-4417-943E-A9D776A88682}"/>
              </a:ext>
            </a:extLst>
          </p:cNvPr>
          <p:cNvSpPr>
            <a:spLocks noGrp="1"/>
          </p:cNvSpPr>
          <p:nvPr/>
        </p:nvSpPr>
        <p:spPr>
          <a:xfrm>
            <a:off x="1809750" y="619125"/>
            <a:ext cx="57150" cy="342900"/>
          </a:xfrm>
          <a:prstGeom prst="rect">
            <a:avLst/>
          </a:prstGeom>
          <a:solidFill>
            <a:srgbClr val="B8322A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E916722-40B2-4AC5-9A79-C9E1A79401BA}"/>
              </a:ext>
            </a:extLst>
          </p:cNvPr>
          <p:cNvSpPr>
            <a:spLocks noGrp="1"/>
          </p:cNvSpPr>
          <p:nvPr/>
        </p:nvSpPr>
        <p:spPr>
          <a:xfrm>
            <a:off x="2019300" y="590550"/>
            <a:ext cx="14287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1050" b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050" b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COLLECTIVE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E19952D-5DB6-46E3-A2F6-F825490E41C9}"/>
              </a:ext>
            </a:extLst>
          </p:cNvPr>
          <p:cNvSpPr>
            <a:spLocks noGrp="1"/>
          </p:cNvSpPr>
          <p:nvPr/>
        </p:nvSpPr>
        <p:spPr>
          <a:xfrm>
            <a:off x="762000" y="1762125"/>
            <a:ext cx="7810500" cy="1238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4050" b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4050" b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COMPANY</a:t>
            </a:r>
          </a:p>
          <a:p>
            <a:pPr>
              <a:lnSpc>
                <a:spcPct val="108000"/>
              </a:lnSpc>
              <a:buNone/>
              <a:defRPr sz="4050" b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4050" b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INTRODUCTION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0B5FC47-A5CD-406C-A76D-D665FE1676BF}"/>
              </a:ext>
            </a:extLst>
          </p:cNvPr>
          <p:cNvSpPr>
            <a:spLocks noGrp="1"/>
          </p:cNvSpPr>
          <p:nvPr/>
        </p:nvSpPr>
        <p:spPr>
          <a:xfrm>
            <a:off x="781050" y="3333750"/>
            <a:ext cx="7715250" cy="1066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2250" b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2250" b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브랜드와 크리에이터 사이,</a:t>
            </a:r>
          </a:p>
          <a:p>
            <a:pPr>
              <a:lnSpc>
                <a:spcPct val="108000"/>
              </a:lnSpc>
              <a:buNone/>
              <a:defRPr sz="2250" b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2250" b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판매가 실제로 작동하도록 설계합니다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4A55399-B3C3-440F-B2A3-FC256571415A}"/>
              </a:ext>
            </a:extLst>
          </p:cNvPr>
          <p:cNvSpPr>
            <a:spLocks noGrp="1"/>
          </p:cNvSpPr>
          <p:nvPr/>
        </p:nvSpPr>
        <p:spPr>
          <a:xfrm>
            <a:off x="800100" y="4667250"/>
            <a:ext cx="74295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1350" b="0">
                <a:solidFill>
                  <a:srgbClr val="66615B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350" b="0">
                <a:solidFill>
                  <a:srgbClr val="66615B"/>
                </a:solidFill>
                <a:latin typeface="Noto Sans KR Thin"/>
                <a:ea typeface="Noto Sans KR Thin"/>
                <a:cs typeface="Noto Sans KR Thin"/>
              </a:rPr>
              <a:t>TDC Collective는 상품 선정부터 판매 운영, 고객 경험, 정산까지 연결하는 커머스 운영사입니다.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F1B724B-067F-4A60-8792-A38C9E7FA7D1}"/>
              </a:ext>
            </a:extLst>
          </p:cNvPr>
          <p:cNvSpPr>
            <a:spLocks noGrp="1"/>
          </p:cNvSpPr>
          <p:nvPr/>
        </p:nvSpPr>
        <p:spPr>
          <a:xfrm>
            <a:off x="800100" y="5905500"/>
            <a:ext cx="6286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1200" b="1">
                <a:solidFill>
                  <a:srgbClr val="B8322A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200" b="1">
                <a:solidFill>
                  <a:srgbClr val="B8322A"/>
                </a:solidFill>
                <a:latin typeface="Noto Sans KR Thin"/>
                <a:ea typeface="Noto Sans KR Thin"/>
                <a:cs typeface="Noto Sans KR Thin"/>
              </a:rPr>
              <a:t>BRAND  ×  CREATOR  ×  SADA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506E939-AD99-4DD3-9F07-FC5321D03AC1}"/>
              </a:ext>
            </a:extLst>
          </p:cNvPr>
          <p:cNvSpPr>
            <a:spLocks noGrp="1"/>
          </p:cNvSpPr>
          <p:nvPr/>
        </p:nvSpPr>
        <p:spPr>
          <a:xfrm>
            <a:off x="9982200" y="1047750"/>
            <a:ext cx="182880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2325" b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2325" b="1" dirty="0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rPr>
              <a:t>TDC</a:t>
            </a:r>
          </a:p>
          <a:p>
            <a:pPr>
              <a:lnSpc>
                <a:spcPct val="108000"/>
              </a:lnSpc>
              <a:buNone/>
              <a:defRPr sz="2325" b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2325" b="1" dirty="0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rPr>
              <a:t>COLLECTIVE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D4578BE-5E6D-481A-910A-D002B6259265}"/>
              </a:ext>
            </a:extLst>
          </p:cNvPr>
          <p:cNvSpPr>
            <a:spLocks noGrp="1"/>
          </p:cNvSpPr>
          <p:nvPr/>
        </p:nvSpPr>
        <p:spPr>
          <a:xfrm>
            <a:off x="10210800" y="2762250"/>
            <a:ext cx="152400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1875" b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875" b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rPr>
              <a:t>Commerce</a:t>
            </a:r>
          </a:p>
          <a:p>
            <a:pPr>
              <a:lnSpc>
                <a:spcPct val="108000"/>
              </a:lnSpc>
              <a:buNone/>
              <a:defRPr sz="1875" b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875" b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rPr>
              <a:t>Operations</a:t>
            </a:r>
          </a:p>
          <a:p>
            <a:pPr>
              <a:lnSpc>
                <a:spcPct val="108000"/>
              </a:lnSpc>
              <a:buNone/>
              <a:defRPr sz="1875" b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875" b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rPr>
              <a:t>Company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1A7546F-8B41-425F-8A0D-40E6F9839A53}"/>
              </a:ext>
            </a:extLst>
          </p:cNvPr>
          <p:cNvSpPr>
            <a:spLocks noGrp="1"/>
          </p:cNvSpPr>
          <p:nvPr/>
        </p:nvSpPr>
        <p:spPr>
          <a:xfrm>
            <a:off x="11049000" y="6229350"/>
            <a:ext cx="666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900" b="0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900" b="0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811126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57B81BE3-8413-4E1C-B053-F4C28A65A51D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857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1650" b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650" b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TDC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CA96A2D-3E8D-4E91-BCA2-F757133494A7}"/>
              </a:ext>
            </a:extLst>
          </p:cNvPr>
          <p:cNvSpPr>
            <a:spLocks noGrp="1"/>
          </p:cNvSpPr>
          <p:nvPr/>
        </p:nvSpPr>
        <p:spPr>
          <a:xfrm>
            <a:off x="1381125" y="304800"/>
            <a:ext cx="47625" cy="228600"/>
          </a:xfrm>
          <a:prstGeom prst="rect">
            <a:avLst/>
          </a:prstGeom>
          <a:solidFill>
            <a:srgbClr val="B8322A"/>
          </a:solidFill>
          <a:ln w="0">
            <a:noFill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CA11DD2-BEAA-45FC-A18B-5E7916CED627}"/>
              </a:ext>
            </a:extLst>
          </p:cNvPr>
          <p:cNvSpPr>
            <a:spLocks noGrp="1"/>
          </p:cNvSpPr>
          <p:nvPr/>
        </p:nvSpPr>
        <p:spPr>
          <a:xfrm>
            <a:off x="1543050" y="266700"/>
            <a:ext cx="1238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900" b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900" b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COLLECTIVE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FF91F0F-040B-4B2C-91CF-48E47E597894}"/>
              </a:ext>
            </a:extLst>
          </p:cNvPr>
          <p:cNvSpPr>
            <a:spLocks noGrp="1"/>
          </p:cNvSpPr>
          <p:nvPr/>
        </p:nvSpPr>
        <p:spPr>
          <a:xfrm>
            <a:off x="9477375" y="266700"/>
            <a:ext cx="2000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825" b="1">
                <a:solidFill>
                  <a:srgbClr val="B8322A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825" b="1">
                <a:solidFill>
                  <a:srgbClr val="B8322A"/>
                </a:solidFill>
                <a:latin typeface="Noto Sans KR Thin"/>
                <a:ea typeface="Noto Sans KR Thin"/>
                <a:cs typeface="Noto Sans KR Thin"/>
              </a:rPr>
              <a:t>COMPANY INTRODUCTION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E2D8655-2D99-4063-9CC4-9D162C7B70AF}"/>
              </a:ext>
            </a:extLst>
          </p:cNvPr>
          <p:cNvSpPr>
            <a:spLocks noGrp="1"/>
          </p:cNvSpPr>
          <p:nvPr/>
        </p:nvSpPr>
        <p:spPr>
          <a:xfrm>
            <a:off x="11239500" y="6362700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825" b="0">
                <a:solidFill>
                  <a:srgbClr val="66615B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825" b="0">
                <a:solidFill>
                  <a:srgbClr val="66615B"/>
                </a:solidFill>
                <a:latin typeface="Noto Sans KR Thin"/>
                <a:ea typeface="Noto Sans KR Thin"/>
                <a:cs typeface="Noto Sans KR Thin"/>
              </a:rPr>
              <a:t>02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70DFBA7-7184-4BF6-A5D4-7E6BDA77F799}"/>
              </a:ext>
            </a:extLst>
          </p:cNvPr>
          <p:cNvSpPr>
            <a:spLocks noGrp="1"/>
          </p:cNvSpPr>
          <p:nvPr/>
        </p:nvSpPr>
        <p:spPr>
          <a:xfrm>
            <a:off x="666750" y="895350"/>
            <a:ext cx="104775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2850" b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2850" b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TDC Collective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C31BC93-B291-4F96-98A0-FAE0EEAA7C35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2870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1350" b="0">
                <a:solidFill>
                  <a:srgbClr val="66615B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350" b="0">
                <a:solidFill>
                  <a:srgbClr val="66615B"/>
                </a:solidFill>
                <a:latin typeface="Noto Sans KR Thin"/>
                <a:ea typeface="Noto Sans KR Thin"/>
                <a:cs typeface="Noto Sans KR Thin"/>
              </a:rPr>
              <a:t>상품과 콘텐츠가 거래로 이어지는 전 과정을 설계하고 운영합니다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F569BE5-FE3F-4DF2-B029-E8755C39DF3B}"/>
              </a:ext>
            </a:extLst>
          </p:cNvPr>
          <p:cNvSpPr>
            <a:spLocks noGrp="1"/>
          </p:cNvSpPr>
          <p:nvPr/>
        </p:nvSpPr>
        <p:spPr>
          <a:xfrm>
            <a:off x="685800" y="2076450"/>
            <a:ext cx="685800" cy="47625"/>
          </a:xfrm>
          <a:prstGeom prst="rect">
            <a:avLst/>
          </a:prstGeom>
          <a:solidFill>
            <a:srgbClr val="B8322A"/>
          </a:solidFill>
          <a:ln w="0">
            <a:noFill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43FBF68-82BA-4662-B271-0B982305BFDF}"/>
              </a:ext>
            </a:extLst>
          </p:cNvPr>
          <p:cNvSpPr>
            <a:spLocks noGrp="1"/>
          </p:cNvSpPr>
          <p:nvPr/>
        </p:nvSpPr>
        <p:spPr>
          <a:xfrm>
            <a:off x="685800" y="2428875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B8322A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500" b="1">
                <a:solidFill>
                  <a:srgbClr val="B8322A"/>
                </a:solidFill>
                <a:latin typeface="Noto Sans KR Thin"/>
                <a:ea typeface="Noto Sans KR Thin"/>
                <a:cs typeface="Noto Sans KR Thin"/>
              </a:rPr>
              <a:t>우리가 맡는 역할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12BF59C-1678-4FEC-A21B-254EBE5BD063}"/>
              </a:ext>
            </a:extLst>
          </p:cNvPr>
          <p:cNvSpPr>
            <a:spLocks noGrp="1"/>
          </p:cNvSpPr>
          <p:nvPr/>
        </p:nvSpPr>
        <p:spPr>
          <a:xfrm>
            <a:off x="685800" y="3174021"/>
            <a:ext cx="6858000" cy="1000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950" b="1" dirty="0" err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브랜드는</a:t>
            </a:r>
            <a:r>
              <a:rPr sz="1950" b="1" dirty="0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 </a:t>
            </a:r>
            <a:r>
              <a:rPr sz="1950" b="1" dirty="0" err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제품과</a:t>
            </a:r>
            <a:r>
              <a:rPr sz="1950" b="1" dirty="0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 </a:t>
            </a:r>
            <a:r>
              <a:rPr sz="1950" b="1" dirty="0" err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출고에</a:t>
            </a:r>
            <a:r>
              <a:rPr sz="1950" b="1" dirty="0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 </a:t>
            </a:r>
            <a:r>
              <a:rPr sz="1950" b="1" dirty="0" err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집중하고</a:t>
            </a:r>
            <a:r>
              <a:rPr sz="1950" b="1" dirty="0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, </a:t>
            </a:r>
            <a:endParaRPr lang="en-US" sz="1950" b="1" dirty="0">
              <a:solidFill>
                <a:srgbClr val="171717"/>
              </a:solidFill>
              <a:latin typeface="Noto Sans KR Thin"/>
              <a:ea typeface="Noto Sans KR Thin"/>
              <a:cs typeface="Noto Sans KR Thin"/>
            </a:endParaRPr>
          </a:p>
          <a:p>
            <a:pPr>
              <a:lnSpc>
                <a:spcPct val="108000"/>
              </a:lnSpc>
              <a:buNone/>
              <a:defRPr sz="1950" b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950" b="1" dirty="0" err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크리에이터는</a:t>
            </a:r>
            <a:r>
              <a:rPr sz="1950" b="1" dirty="0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 </a:t>
            </a:r>
            <a:r>
              <a:rPr sz="1950" b="1" dirty="0" err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콘텐츠에</a:t>
            </a:r>
            <a:r>
              <a:rPr sz="1950" b="1" dirty="0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 </a:t>
            </a:r>
            <a:r>
              <a:rPr sz="1950" b="1" dirty="0" err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집중합니다</a:t>
            </a:r>
            <a:r>
              <a:rPr sz="1950" b="1" dirty="0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.</a:t>
            </a:r>
          </a:p>
          <a:p>
            <a:pPr>
              <a:lnSpc>
                <a:spcPct val="108000"/>
              </a:lnSpc>
              <a:buNone/>
              <a:defRPr sz="1950" b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950" b="1" dirty="0" err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TDC는</a:t>
            </a:r>
            <a:r>
              <a:rPr sz="1950" b="1" dirty="0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 </a:t>
            </a:r>
            <a:r>
              <a:rPr sz="1950" b="1" dirty="0" err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그</a:t>
            </a:r>
            <a:r>
              <a:rPr sz="1950" b="1" dirty="0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 </a:t>
            </a:r>
            <a:r>
              <a:rPr sz="1950" b="1" dirty="0" err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사이에서</a:t>
            </a:r>
            <a:r>
              <a:rPr sz="1950" b="1" dirty="0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 </a:t>
            </a:r>
            <a:r>
              <a:rPr sz="1950" b="1" dirty="0" err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조건</a:t>
            </a:r>
            <a:r>
              <a:rPr sz="1950" b="1" dirty="0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 </a:t>
            </a:r>
            <a:r>
              <a:rPr sz="1950" b="1" dirty="0" err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협의</a:t>
            </a:r>
            <a:r>
              <a:rPr sz="1950" b="1" dirty="0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, </a:t>
            </a:r>
            <a:r>
              <a:rPr sz="1950" b="1" dirty="0" err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판매</a:t>
            </a:r>
            <a:r>
              <a:rPr sz="1950" b="1" dirty="0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 </a:t>
            </a:r>
            <a:r>
              <a:rPr sz="1950" b="1" dirty="0" err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채널</a:t>
            </a:r>
            <a:r>
              <a:rPr sz="1950" b="1" dirty="0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, </a:t>
            </a:r>
            <a:r>
              <a:rPr sz="1950" b="1" dirty="0" err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고객</a:t>
            </a:r>
            <a:r>
              <a:rPr sz="1950" b="1" dirty="0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 </a:t>
            </a:r>
            <a:r>
              <a:rPr sz="1950" b="1" dirty="0" err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응대와</a:t>
            </a:r>
            <a:r>
              <a:rPr sz="1950" b="1" dirty="0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 </a:t>
            </a:r>
            <a:r>
              <a:rPr sz="1950" b="1" dirty="0" err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정산</a:t>
            </a:r>
            <a:r>
              <a:rPr sz="1950" b="1" dirty="0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 </a:t>
            </a:r>
            <a:r>
              <a:rPr sz="1950" b="1" dirty="0" err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흐름을</a:t>
            </a:r>
            <a:r>
              <a:rPr sz="1950" b="1" dirty="0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 </a:t>
            </a:r>
            <a:r>
              <a:rPr sz="1950" b="1" dirty="0" err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관리합니다</a:t>
            </a:r>
            <a:r>
              <a:rPr sz="1950" b="1" dirty="0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FC02508-23BF-4D9D-A2D8-D75BE7A3424B}"/>
              </a:ext>
            </a:extLst>
          </p:cNvPr>
          <p:cNvSpPr>
            <a:spLocks noGrp="1"/>
          </p:cNvSpPr>
          <p:nvPr/>
        </p:nvSpPr>
        <p:spPr>
          <a:xfrm>
            <a:off x="8001000" y="2381250"/>
            <a:ext cx="3333750" cy="285750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F1457EB-79A9-43A7-B3C9-F87B6E6425FC}"/>
              </a:ext>
            </a:extLst>
          </p:cNvPr>
          <p:cNvSpPr>
            <a:spLocks noGrp="1"/>
          </p:cNvSpPr>
          <p:nvPr/>
        </p:nvSpPr>
        <p:spPr>
          <a:xfrm>
            <a:off x="8382000" y="2667000"/>
            <a:ext cx="25717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650" b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rPr>
              <a:t>Commerce Operator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0C427B9-8F57-4493-8EBA-859ECA0DFE24}"/>
              </a:ext>
            </a:extLst>
          </p:cNvPr>
          <p:cNvSpPr>
            <a:spLocks noGrp="1"/>
          </p:cNvSpPr>
          <p:nvPr/>
        </p:nvSpPr>
        <p:spPr>
          <a:xfrm>
            <a:off x="8276492" y="3190875"/>
            <a:ext cx="2677258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800" b="1" dirty="0" err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rPr>
              <a:t>판매</a:t>
            </a:r>
            <a:r>
              <a:rPr sz="1800" b="1" dirty="0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rPr>
              <a:t> </a:t>
            </a:r>
            <a:r>
              <a:rPr sz="1800" b="1" dirty="0" err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rPr>
              <a:t>구조와</a:t>
            </a:r>
            <a:r>
              <a:rPr sz="1800" b="1" dirty="0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rPr>
              <a:t> </a:t>
            </a:r>
            <a:r>
              <a:rPr sz="1800" b="1" dirty="0" err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rPr>
              <a:t>운영</a:t>
            </a:r>
            <a:r>
              <a:rPr sz="1800" b="1" dirty="0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rPr>
              <a:t> </a:t>
            </a:r>
            <a:r>
              <a:rPr sz="1800" b="1" dirty="0" err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rPr>
              <a:t>책임을</a:t>
            </a:r>
            <a:r>
              <a:rPr sz="1800" b="1" dirty="0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rPr>
              <a:t> </a:t>
            </a:r>
            <a:r>
              <a:rPr sz="1800" b="1" dirty="0" err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rPr>
              <a:t>함께</a:t>
            </a:r>
            <a:r>
              <a:rPr sz="1800" b="1" dirty="0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rPr>
              <a:t> </a:t>
            </a:r>
            <a:r>
              <a:rPr sz="1800" b="1" dirty="0" err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rPr>
              <a:t>맡는</a:t>
            </a:r>
            <a:endParaRPr sz="1800" b="1" dirty="0">
              <a:solidFill>
                <a:srgbClr val="FFFFFF"/>
              </a:solidFill>
              <a:latin typeface="Noto Sans KR Thin"/>
              <a:ea typeface="Noto Sans KR Thin"/>
              <a:cs typeface="Noto Sans KR Thin"/>
            </a:endParaRPr>
          </a:p>
          <a:p>
            <a:pPr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800" b="1" dirty="0" err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rPr>
              <a:t>실행형</a:t>
            </a:r>
            <a:r>
              <a:rPr sz="1800" b="1" dirty="0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rPr>
              <a:t> </a:t>
            </a:r>
            <a:r>
              <a:rPr sz="1800" b="1" dirty="0" err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rPr>
              <a:t>커머스</a:t>
            </a:r>
            <a:r>
              <a:rPr sz="1800" b="1" dirty="0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rPr>
              <a:t> </a:t>
            </a:r>
            <a:r>
              <a:rPr sz="1800" b="1" dirty="0" err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rPr>
              <a:t>파트너</a:t>
            </a:r>
            <a:endParaRPr sz="1800" b="1" dirty="0">
              <a:solidFill>
                <a:srgbClr val="FFFFFF"/>
              </a:solidFill>
              <a:latin typeface="Noto Sans KR Thin"/>
              <a:ea typeface="Noto Sans KR Thin"/>
              <a:cs typeface="Noto Sans KR Thin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F3AADCE-B254-4DD6-9591-77BB50D00287}"/>
              </a:ext>
            </a:extLst>
          </p:cNvPr>
          <p:cNvSpPr>
            <a:spLocks noGrp="1"/>
          </p:cNvSpPr>
          <p:nvPr/>
        </p:nvSpPr>
        <p:spPr>
          <a:xfrm>
            <a:off x="8382000" y="4333875"/>
            <a:ext cx="552450" cy="47625"/>
          </a:xfrm>
          <a:prstGeom prst="rect">
            <a:avLst/>
          </a:prstGeom>
          <a:solidFill>
            <a:srgbClr val="B8322A"/>
          </a:solidFill>
          <a:ln w="0">
            <a:noFill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8537AC8-CFC0-4846-87A3-8B5C7D3CAA5F}"/>
              </a:ext>
            </a:extLst>
          </p:cNvPr>
          <p:cNvSpPr>
            <a:spLocks noGrp="1"/>
          </p:cNvSpPr>
          <p:nvPr/>
        </p:nvSpPr>
        <p:spPr>
          <a:xfrm>
            <a:off x="8382000" y="4524375"/>
            <a:ext cx="252412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1200" b="0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200" b="0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rPr>
              <a:t>연결 이후의 실제 운영까지 관리합니다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4B818CF-7441-4BA8-963B-D2201AFB5F6B}"/>
              </a:ext>
            </a:extLst>
          </p:cNvPr>
          <p:cNvSpPr>
            <a:spLocks noGrp="1"/>
          </p:cNvSpPr>
          <p:nvPr/>
        </p:nvSpPr>
        <p:spPr>
          <a:xfrm>
            <a:off x="685800" y="5452696"/>
            <a:ext cx="9906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1500" b="0">
                <a:solidFill>
                  <a:srgbClr val="66615B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500" b="0" dirty="0" err="1">
                <a:solidFill>
                  <a:srgbClr val="66615B"/>
                </a:solidFill>
                <a:latin typeface="Noto Sans KR Thin"/>
                <a:ea typeface="Noto Sans KR Thin"/>
                <a:cs typeface="Noto Sans KR Thin"/>
              </a:rPr>
              <a:t>TDC의</a:t>
            </a:r>
            <a:r>
              <a:rPr sz="1500" b="0" dirty="0">
                <a:solidFill>
                  <a:srgbClr val="66615B"/>
                </a:solidFill>
                <a:latin typeface="Noto Sans KR Thin"/>
                <a:ea typeface="Noto Sans KR Thin"/>
                <a:cs typeface="Noto Sans KR Thin"/>
              </a:rPr>
              <a:t> </a:t>
            </a:r>
            <a:r>
              <a:rPr sz="1500" b="0" dirty="0" err="1">
                <a:solidFill>
                  <a:srgbClr val="66615B"/>
                </a:solidFill>
                <a:latin typeface="Noto Sans KR Thin"/>
                <a:ea typeface="Noto Sans KR Thin"/>
                <a:cs typeface="Noto Sans KR Thin"/>
              </a:rPr>
              <a:t>기준은</a:t>
            </a:r>
            <a:r>
              <a:rPr sz="1500" b="0" dirty="0">
                <a:solidFill>
                  <a:srgbClr val="66615B"/>
                </a:solidFill>
                <a:latin typeface="Noto Sans KR Thin"/>
                <a:ea typeface="Noto Sans KR Thin"/>
                <a:cs typeface="Noto Sans KR Thin"/>
              </a:rPr>
              <a:t> </a:t>
            </a:r>
            <a:r>
              <a:rPr sz="1500" b="0" dirty="0" err="1">
                <a:solidFill>
                  <a:srgbClr val="66615B"/>
                </a:solidFill>
                <a:latin typeface="Noto Sans KR Thin"/>
                <a:ea typeface="Noto Sans KR Thin"/>
                <a:cs typeface="Noto Sans KR Thin"/>
              </a:rPr>
              <a:t>단순</a:t>
            </a:r>
            <a:r>
              <a:rPr sz="1500" b="0" dirty="0">
                <a:solidFill>
                  <a:srgbClr val="66615B"/>
                </a:solidFill>
                <a:latin typeface="Noto Sans KR Thin"/>
                <a:ea typeface="Noto Sans KR Thin"/>
                <a:cs typeface="Noto Sans KR Thin"/>
              </a:rPr>
              <a:t> </a:t>
            </a:r>
            <a:r>
              <a:rPr sz="1500" b="0" dirty="0" err="1">
                <a:solidFill>
                  <a:srgbClr val="66615B"/>
                </a:solidFill>
                <a:latin typeface="Noto Sans KR Thin"/>
                <a:ea typeface="Noto Sans KR Thin"/>
                <a:cs typeface="Noto Sans KR Thin"/>
              </a:rPr>
              <a:t>노출이</a:t>
            </a:r>
            <a:r>
              <a:rPr sz="1500" b="0" dirty="0">
                <a:solidFill>
                  <a:srgbClr val="66615B"/>
                </a:solidFill>
                <a:latin typeface="Noto Sans KR Thin"/>
                <a:ea typeface="Noto Sans KR Thin"/>
                <a:cs typeface="Noto Sans KR Thin"/>
              </a:rPr>
              <a:t> </a:t>
            </a:r>
            <a:r>
              <a:rPr sz="1500" b="0" dirty="0" err="1">
                <a:solidFill>
                  <a:srgbClr val="66615B"/>
                </a:solidFill>
                <a:latin typeface="Noto Sans KR Thin"/>
                <a:ea typeface="Noto Sans KR Thin"/>
                <a:cs typeface="Noto Sans KR Thin"/>
              </a:rPr>
              <a:t>아니라</a:t>
            </a:r>
            <a:r>
              <a:rPr sz="1500" b="0" dirty="0">
                <a:solidFill>
                  <a:srgbClr val="66615B"/>
                </a:solidFill>
                <a:latin typeface="Noto Sans KR Thin"/>
                <a:ea typeface="Noto Sans KR Thin"/>
                <a:cs typeface="Noto Sans KR Thin"/>
              </a:rPr>
              <a:t>, </a:t>
            </a:r>
            <a:r>
              <a:rPr sz="1500" b="0" dirty="0" err="1">
                <a:solidFill>
                  <a:srgbClr val="66615B"/>
                </a:solidFill>
                <a:latin typeface="Noto Sans KR Thin"/>
                <a:ea typeface="Noto Sans KR Thin"/>
                <a:cs typeface="Noto Sans KR Thin"/>
              </a:rPr>
              <a:t>구매</a:t>
            </a:r>
            <a:r>
              <a:rPr sz="1500" b="0" dirty="0">
                <a:solidFill>
                  <a:srgbClr val="66615B"/>
                </a:solidFill>
                <a:latin typeface="Noto Sans KR Thin"/>
                <a:ea typeface="Noto Sans KR Thin"/>
                <a:cs typeface="Noto Sans KR Thin"/>
              </a:rPr>
              <a:t> </a:t>
            </a:r>
            <a:r>
              <a:rPr sz="1500" b="0" dirty="0" err="1">
                <a:solidFill>
                  <a:srgbClr val="66615B"/>
                </a:solidFill>
                <a:latin typeface="Noto Sans KR Thin"/>
                <a:ea typeface="Noto Sans KR Thin"/>
                <a:cs typeface="Noto Sans KR Thin"/>
              </a:rPr>
              <a:t>이후까지</a:t>
            </a:r>
            <a:r>
              <a:rPr sz="1500" b="0" dirty="0">
                <a:solidFill>
                  <a:srgbClr val="66615B"/>
                </a:solidFill>
                <a:latin typeface="Noto Sans KR Thin"/>
                <a:ea typeface="Noto Sans KR Thin"/>
                <a:cs typeface="Noto Sans KR Thin"/>
              </a:rPr>
              <a:t> </a:t>
            </a:r>
            <a:r>
              <a:rPr sz="1500" b="0" dirty="0" err="1">
                <a:solidFill>
                  <a:srgbClr val="66615B"/>
                </a:solidFill>
                <a:latin typeface="Noto Sans KR Thin"/>
                <a:ea typeface="Noto Sans KR Thin"/>
                <a:cs typeface="Noto Sans KR Thin"/>
              </a:rPr>
              <a:t>안정적으로</a:t>
            </a:r>
            <a:r>
              <a:rPr sz="1500" b="0" dirty="0">
                <a:solidFill>
                  <a:srgbClr val="66615B"/>
                </a:solidFill>
                <a:latin typeface="Noto Sans KR Thin"/>
                <a:ea typeface="Noto Sans KR Thin"/>
                <a:cs typeface="Noto Sans KR Thin"/>
              </a:rPr>
              <a:t> </a:t>
            </a:r>
            <a:r>
              <a:rPr sz="1500" b="0" dirty="0" err="1">
                <a:solidFill>
                  <a:srgbClr val="66615B"/>
                </a:solidFill>
                <a:latin typeface="Noto Sans KR Thin"/>
                <a:ea typeface="Noto Sans KR Thin"/>
                <a:cs typeface="Noto Sans KR Thin"/>
              </a:rPr>
              <a:t>작동하는</a:t>
            </a:r>
            <a:r>
              <a:rPr sz="1500" b="0" dirty="0">
                <a:solidFill>
                  <a:srgbClr val="66615B"/>
                </a:solidFill>
                <a:latin typeface="Noto Sans KR Thin"/>
                <a:ea typeface="Noto Sans KR Thin"/>
                <a:cs typeface="Noto Sans KR Thin"/>
              </a:rPr>
              <a:t> </a:t>
            </a:r>
            <a:r>
              <a:rPr sz="1500" b="0" dirty="0" err="1">
                <a:solidFill>
                  <a:srgbClr val="66615B"/>
                </a:solidFill>
                <a:latin typeface="Noto Sans KR Thin"/>
                <a:ea typeface="Noto Sans KR Thin"/>
                <a:cs typeface="Noto Sans KR Thin"/>
              </a:rPr>
              <a:t>구조입니다</a:t>
            </a:r>
            <a:r>
              <a:rPr sz="1500" b="0" dirty="0">
                <a:solidFill>
                  <a:srgbClr val="66615B"/>
                </a:solidFill>
                <a:latin typeface="Noto Sans KR Thin"/>
                <a:ea typeface="Noto Sans KR Thin"/>
                <a:cs typeface="Noto Sans KR Thi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87283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BDA22494-34BC-41C1-9F3C-3D9D78AD668A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857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1650" b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650" b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TDC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260D8E5-BB83-4334-8C46-13B960A27789}"/>
              </a:ext>
            </a:extLst>
          </p:cNvPr>
          <p:cNvSpPr>
            <a:spLocks noGrp="1"/>
          </p:cNvSpPr>
          <p:nvPr/>
        </p:nvSpPr>
        <p:spPr>
          <a:xfrm>
            <a:off x="1381125" y="304800"/>
            <a:ext cx="47625" cy="228600"/>
          </a:xfrm>
          <a:prstGeom prst="rect">
            <a:avLst/>
          </a:prstGeom>
          <a:solidFill>
            <a:srgbClr val="B8322A"/>
          </a:solidFill>
          <a:ln w="0">
            <a:noFill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960B43A-A9EE-4FAC-8C5E-15181D6AE30E}"/>
              </a:ext>
            </a:extLst>
          </p:cNvPr>
          <p:cNvSpPr>
            <a:spLocks noGrp="1"/>
          </p:cNvSpPr>
          <p:nvPr/>
        </p:nvSpPr>
        <p:spPr>
          <a:xfrm>
            <a:off x="1543050" y="266700"/>
            <a:ext cx="1238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900" b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900" b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COLLECTIVE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022A6D2-7339-4A18-A6C4-C60F31F6FB87}"/>
              </a:ext>
            </a:extLst>
          </p:cNvPr>
          <p:cNvSpPr>
            <a:spLocks noGrp="1"/>
          </p:cNvSpPr>
          <p:nvPr/>
        </p:nvSpPr>
        <p:spPr>
          <a:xfrm>
            <a:off x="9477375" y="266700"/>
            <a:ext cx="2000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825" b="1">
                <a:solidFill>
                  <a:srgbClr val="B8322A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825" b="1">
                <a:solidFill>
                  <a:srgbClr val="B8322A"/>
                </a:solidFill>
                <a:latin typeface="Noto Sans KR Thin"/>
                <a:ea typeface="Noto Sans KR Thin"/>
                <a:cs typeface="Noto Sans KR Thin"/>
              </a:rPr>
              <a:t>COMPANY INTRODUCTION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0FBF5F7-EAA2-4C16-8B1A-1C74A9EEC543}"/>
              </a:ext>
            </a:extLst>
          </p:cNvPr>
          <p:cNvSpPr>
            <a:spLocks noGrp="1"/>
          </p:cNvSpPr>
          <p:nvPr/>
        </p:nvSpPr>
        <p:spPr>
          <a:xfrm>
            <a:off x="11239500" y="6362700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825" b="0">
                <a:solidFill>
                  <a:srgbClr val="66615B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825" b="0">
                <a:solidFill>
                  <a:srgbClr val="66615B"/>
                </a:solidFill>
                <a:latin typeface="Noto Sans KR Thin"/>
                <a:ea typeface="Noto Sans KR Thin"/>
                <a:cs typeface="Noto Sans KR Thin"/>
              </a:rPr>
              <a:t>03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8EFBF14-4561-4432-A77E-9E408AD37393}"/>
              </a:ext>
            </a:extLst>
          </p:cNvPr>
          <p:cNvSpPr>
            <a:spLocks noGrp="1"/>
          </p:cNvSpPr>
          <p:nvPr/>
        </p:nvSpPr>
        <p:spPr>
          <a:xfrm>
            <a:off x="666750" y="895350"/>
            <a:ext cx="104775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2850" b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2850" b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사업 영역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6CDE1D6-6630-46CE-B33B-7C6C73436993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2870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1350" b="0">
                <a:solidFill>
                  <a:srgbClr val="66615B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350" b="0">
                <a:solidFill>
                  <a:srgbClr val="66615B"/>
                </a:solidFill>
                <a:latin typeface="Noto Sans KR Thin"/>
                <a:ea typeface="Noto Sans KR Thin"/>
                <a:cs typeface="Noto Sans KR Thin"/>
              </a:rPr>
              <a:t>커머스 운영과 자체 판매 채널을 하나의 흐름으로 연결합니다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4E8E899-8822-44F4-8B2C-7D4430364007}"/>
              </a:ext>
            </a:extLst>
          </p:cNvPr>
          <p:cNvSpPr>
            <a:spLocks noGrp="1"/>
          </p:cNvSpPr>
          <p:nvPr/>
        </p:nvSpPr>
        <p:spPr>
          <a:xfrm>
            <a:off x="685800" y="2076450"/>
            <a:ext cx="685800" cy="47625"/>
          </a:xfrm>
          <a:prstGeom prst="rect">
            <a:avLst/>
          </a:prstGeom>
          <a:solidFill>
            <a:srgbClr val="B8322A"/>
          </a:solidFill>
          <a:ln w="0">
            <a:noFill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8B9A9FE-3334-4EAA-9CDF-FC83963B5B74}"/>
              </a:ext>
            </a:extLst>
          </p:cNvPr>
          <p:cNvSpPr>
            <a:spLocks noGrp="1"/>
          </p:cNvSpPr>
          <p:nvPr/>
        </p:nvSpPr>
        <p:spPr>
          <a:xfrm>
            <a:off x="714375" y="2457450"/>
            <a:ext cx="52387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1650" b="1">
                <a:solidFill>
                  <a:srgbClr val="B8322A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650" b="1">
                <a:solidFill>
                  <a:srgbClr val="B8322A"/>
                </a:solidFill>
                <a:latin typeface="Noto Sans KR Thin"/>
                <a:ea typeface="Noto Sans KR Thin"/>
                <a:cs typeface="Noto Sans KR Thin"/>
              </a:rPr>
              <a:t>01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1B35862-0D21-468D-A542-2DFDE539E107}"/>
              </a:ext>
            </a:extLst>
          </p:cNvPr>
          <p:cNvSpPr>
            <a:spLocks noGrp="1"/>
          </p:cNvSpPr>
          <p:nvPr/>
        </p:nvSpPr>
        <p:spPr>
          <a:xfrm>
            <a:off x="1381125" y="2381250"/>
            <a:ext cx="32385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2250" b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2250" b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브랜드 커머스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544A075-2902-4862-9025-F08D595AE8B2}"/>
              </a:ext>
            </a:extLst>
          </p:cNvPr>
          <p:cNvSpPr>
            <a:spLocks noGrp="1"/>
          </p:cNvSpPr>
          <p:nvPr/>
        </p:nvSpPr>
        <p:spPr>
          <a:xfrm>
            <a:off x="1381125" y="3000375"/>
            <a:ext cx="4000500" cy="1333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1500" b="0">
                <a:solidFill>
                  <a:srgbClr val="66615B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500" b="0">
                <a:solidFill>
                  <a:srgbClr val="66615B"/>
                </a:solidFill>
                <a:latin typeface="Noto Sans KR Thin"/>
                <a:ea typeface="Noto Sans KR Thin"/>
                <a:cs typeface="Noto Sans KR Thin"/>
              </a:rPr>
              <a:t>상품성과 공급 조건을 검토하고, 상품과 맞는 크리에이터를 연결합니다. 판매페이지와 고객 운영, 정산 기준까지 함께 설계합니다.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7BD62C2-C952-4F49-9DF3-F63BBE3806D1}"/>
              </a:ext>
            </a:extLst>
          </p:cNvPr>
          <p:cNvSpPr>
            <a:spLocks noGrp="1"/>
          </p:cNvSpPr>
          <p:nvPr/>
        </p:nvSpPr>
        <p:spPr>
          <a:xfrm>
            <a:off x="5905500" y="2381250"/>
            <a:ext cx="19050" cy="2857500"/>
          </a:xfrm>
          <a:prstGeom prst="rect">
            <a:avLst/>
          </a:prstGeom>
          <a:solidFill>
            <a:srgbClr val="E7DED2"/>
          </a:solidFill>
          <a:ln w="0">
            <a:noFill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30D566A-4FA9-48FD-8BA6-116150004259}"/>
              </a:ext>
            </a:extLst>
          </p:cNvPr>
          <p:cNvSpPr>
            <a:spLocks noGrp="1"/>
          </p:cNvSpPr>
          <p:nvPr/>
        </p:nvSpPr>
        <p:spPr>
          <a:xfrm>
            <a:off x="6429375" y="2457450"/>
            <a:ext cx="52387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1650" b="1">
                <a:solidFill>
                  <a:srgbClr val="B8322A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650" b="1">
                <a:solidFill>
                  <a:srgbClr val="B8322A"/>
                </a:solidFill>
                <a:latin typeface="Noto Sans KR Thin"/>
                <a:ea typeface="Noto Sans KR Thin"/>
                <a:cs typeface="Noto Sans KR Thin"/>
              </a:rPr>
              <a:t>02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9C27A43-4A1C-439A-909A-F48FE2BF0657}"/>
              </a:ext>
            </a:extLst>
          </p:cNvPr>
          <p:cNvSpPr>
            <a:spLocks noGrp="1"/>
          </p:cNvSpPr>
          <p:nvPr/>
        </p:nvSpPr>
        <p:spPr>
          <a:xfrm>
            <a:off x="7096125" y="2381250"/>
            <a:ext cx="32385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2250" b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2250" b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SADA 커머스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07A85B0-8359-4C39-8EA4-95963C9A2A69}"/>
              </a:ext>
            </a:extLst>
          </p:cNvPr>
          <p:cNvSpPr>
            <a:spLocks noGrp="1"/>
          </p:cNvSpPr>
          <p:nvPr/>
        </p:nvSpPr>
        <p:spPr>
          <a:xfrm>
            <a:off x="7096125" y="3000375"/>
            <a:ext cx="4000500" cy="1333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1500" b="0">
                <a:solidFill>
                  <a:srgbClr val="66615B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500" b="0">
                <a:solidFill>
                  <a:srgbClr val="66615B"/>
                </a:solidFill>
                <a:latin typeface="Noto Sans KR Thin"/>
                <a:ea typeface="Noto Sans KR Thin"/>
                <a:cs typeface="Noto Sans KR Thin"/>
              </a:rPr>
              <a:t>입점비 없이 상품을 검토하고, 크리에이터가 협업할 상품을 선택할 수 있도록 운영합니다. 소비자는 SADA에서 발견하고 구매합니다.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7D9436A-1B13-42A1-9DD8-A4EBDCD259CC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429875" cy="68580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7005357-4BD1-425F-9D77-83EC8DCF28C9}"/>
              </a:ext>
            </a:extLst>
          </p:cNvPr>
          <p:cNvSpPr>
            <a:spLocks noGrp="1"/>
          </p:cNvSpPr>
          <p:nvPr/>
        </p:nvSpPr>
        <p:spPr>
          <a:xfrm>
            <a:off x="952500" y="5057775"/>
            <a:ext cx="9906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575" b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rPr>
              <a:t>상품 검토     크리에이터 적합성     판매 운영     고객 경험     정산 관리</a:t>
            </a:r>
          </a:p>
        </p:txBody>
      </p:sp>
    </p:spTree>
    <p:extLst>
      <p:ext uri="{BB962C8B-B14F-4D97-AF65-F5344CB8AC3E}">
        <p14:creationId xmlns:p14="http://schemas.microsoft.com/office/powerpoint/2010/main" val="629142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E41F1580-3284-41EF-88F5-E5020C0DD412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857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1650" b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650" b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TDC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A1DF51D-C4D0-4EC1-A0CF-A8A941A21A20}"/>
              </a:ext>
            </a:extLst>
          </p:cNvPr>
          <p:cNvSpPr>
            <a:spLocks noGrp="1"/>
          </p:cNvSpPr>
          <p:nvPr/>
        </p:nvSpPr>
        <p:spPr>
          <a:xfrm>
            <a:off x="1381125" y="304800"/>
            <a:ext cx="47625" cy="228600"/>
          </a:xfrm>
          <a:prstGeom prst="rect">
            <a:avLst/>
          </a:prstGeom>
          <a:solidFill>
            <a:srgbClr val="B8322A"/>
          </a:solidFill>
          <a:ln w="0">
            <a:noFill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EBBB9A2-327F-4B93-9D21-BE718DD7D984}"/>
              </a:ext>
            </a:extLst>
          </p:cNvPr>
          <p:cNvSpPr>
            <a:spLocks noGrp="1"/>
          </p:cNvSpPr>
          <p:nvPr/>
        </p:nvSpPr>
        <p:spPr>
          <a:xfrm>
            <a:off x="1543050" y="266700"/>
            <a:ext cx="1238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900" b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900" b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COLLECTIVE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A664FAE-BDFF-44CA-B6B6-940B1CFB3CD2}"/>
              </a:ext>
            </a:extLst>
          </p:cNvPr>
          <p:cNvSpPr>
            <a:spLocks noGrp="1"/>
          </p:cNvSpPr>
          <p:nvPr/>
        </p:nvSpPr>
        <p:spPr>
          <a:xfrm>
            <a:off x="9477375" y="266700"/>
            <a:ext cx="2000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825" b="1">
                <a:solidFill>
                  <a:srgbClr val="B8322A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825" b="1">
                <a:solidFill>
                  <a:srgbClr val="B8322A"/>
                </a:solidFill>
                <a:latin typeface="Noto Sans KR Thin"/>
                <a:ea typeface="Noto Sans KR Thin"/>
                <a:cs typeface="Noto Sans KR Thin"/>
              </a:rPr>
              <a:t>COMPANY INTRODUCTION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3ACFE18-736F-47E1-9CB4-54701B2A314D}"/>
              </a:ext>
            </a:extLst>
          </p:cNvPr>
          <p:cNvSpPr>
            <a:spLocks noGrp="1"/>
          </p:cNvSpPr>
          <p:nvPr/>
        </p:nvSpPr>
        <p:spPr>
          <a:xfrm>
            <a:off x="685800" y="809625"/>
            <a:ext cx="1047750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3000" b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3000" b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운영 경험이 만드는 실행력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6404384-88E9-4A82-8022-133803A94FBC}"/>
              </a:ext>
            </a:extLst>
          </p:cNvPr>
          <p:cNvSpPr>
            <a:spLocks noGrp="1"/>
          </p:cNvSpPr>
          <p:nvPr/>
        </p:nvSpPr>
        <p:spPr>
          <a:xfrm>
            <a:off x="704850" y="1428750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1425" b="0">
                <a:solidFill>
                  <a:srgbClr val="66615B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425" b="0">
                <a:solidFill>
                  <a:srgbClr val="66615B"/>
                </a:solidFill>
                <a:latin typeface="Noto Sans KR Thin"/>
                <a:ea typeface="Noto Sans KR Thin"/>
                <a:cs typeface="Noto Sans KR Thin"/>
              </a:rPr>
              <a:t>브랜드·제조·유통을 직접 운영한 경험으로 파트너의 현실을 정확하게 이해합니다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9931BF9-B50F-4E7C-977B-872EAC7E174F}"/>
              </a:ext>
            </a:extLst>
          </p:cNvPr>
          <p:cNvSpPr>
            <a:spLocks noGrp="1"/>
          </p:cNvSpPr>
          <p:nvPr/>
        </p:nvSpPr>
        <p:spPr>
          <a:xfrm>
            <a:off x="704850" y="2019300"/>
            <a:ext cx="685800" cy="47625"/>
          </a:xfrm>
          <a:prstGeom prst="rect">
            <a:avLst/>
          </a:prstGeom>
          <a:solidFill>
            <a:srgbClr val="B8322A"/>
          </a:solidFill>
          <a:ln w="0">
            <a:noFill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9CDA2AE-EB08-4385-9223-D7B3A8FD3043}"/>
              </a:ext>
            </a:extLst>
          </p:cNvPr>
          <p:cNvSpPr>
            <a:spLocks noGrp="1"/>
          </p:cNvSpPr>
          <p:nvPr/>
        </p:nvSpPr>
        <p:spPr>
          <a:xfrm>
            <a:off x="704850" y="2305050"/>
            <a:ext cx="10477500" cy="1000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2550" b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2550" b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파트너의 문제를 설명으로 배운 것이 아니라,</a:t>
            </a:r>
          </a:p>
          <a:p>
            <a:pPr>
              <a:lnSpc>
                <a:spcPct val="108000"/>
              </a:lnSpc>
              <a:buNone/>
              <a:defRPr sz="2550" b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2550" b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직접 운영하며 경험했습니다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94D9EED-CD99-4F2E-8658-583CB4F6FFF2}"/>
              </a:ext>
            </a:extLst>
          </p:cNvPr>
          <p:cNvSpPr>
            <a:spLocks noGrp="1"/>
          </p:cNvSpPr>
          <p:nvPr/>
        </p:nvSpPr>
        <p:spPr>
          <a:xfrm>
            <a:off x="704850" y="3714750"/>
            <a:ext cx="2952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900" b="1">
                <a:solidFill>
                  <a:srgbClr val="B8322A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900" b="1">
                <a:solidFill>
                  <a:srgbClr val="B8322A"/>
                </a:solidFill>
                <a:latin typeface="Noto Sans KR Thin"/>
                <a:ea typeface="Noto Sans KR Thin"/>
                <a:cs typeface="Noto Sans KR Thin"/>
              </a:rPr>
              <a:t>BRAND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34AAEF0-82B6-4271-9C45-90CD5E236892}"/>
              </a:ext>
            </a:extLst>
          </p:cNvPr>
          <p:cNvSpPr>
            <a:spLocks noGrp="1"/>
          </p:cNvSpPr>
          <p:nvPr/>
        </p:nvSpPr>
        <p:spPr>
          <a:xfrm>
            <a:off x="704850" y="4048125"/>
            <a:ext cx="29527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2025" b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2025" b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브랜드 운영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EAB1A5E-6212-4CAA-8F5B-276EDF671AB8}"/>
              </a:ext>
            </a:extLst>
          </p:cNvPr>
          <p:cNvSpPr>
            <a:spLocks noGrp="1"/>
          </p:cNvSpPr>
          <p:nvPr/>
        </p:nvSpPr>
        <p:spPr>
          <a:xfrm>
            <a:off x="704850" y="4591050"/>
            <a:ext cx="3048000" cy="1028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1350" b="0">
                <a:solidFill>
                  <a:srgbClr val="66615B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350" b="0">
                <a:solidFill>
                  <a:srgbClr val="66615B"/>
                </a:solidFill>
                <a:latin typeface="Noto Sans KR Thin"/>
                <a:ea typeface="Noto Sans KR Thin"/>
                <a:cs typeface="Noto Sans KR Thin"/>
              </a:rPr>
              <a:t>포지셔닝과 가격, 소비자 반응을 함께 판단합니다. 좋은 제품이 실제 선택으로 이어지는 조건을 이해합니다.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EFF50E3-7890-47D0-ABEF-E6CC51AACC3F}"/>
              </a:ext>
            </a:extLst>
          </p:cNvPr>
          <p:cNvSpPr>
            <a:spLocks noGrp="1"/>
          </p:cNvSpPr>
          <p:nvPr/>
        </p:nvSpPr>
        <p:spPr>
          <a:xfrm>
            <a:off x="4076700" y="3762375"/>
            <a:ext cx="19050" cy="1905000"/>
          </a:xfrm>
          <a:prstGeom prst="rect">
            <a:avLst/>
          </a:prstGeom>
          <a:solidFill>
            <a:srgbClr val="D9D0C4"/>
          </a:solidFill>
          <a:ln w="0">
            <a:noFill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D7BEAC1-95F9-405E-AA0A-D423F5A866CA}"/>
              </a:ext>
            </a:extLst>
          </p:cNvPr>
          <p:cNvSpPr>
            <a:spLocks noGrp="1"/>
          </p:cNvSpPr>
          <p:nvPr/>
        </p:nvSpPr>
        <p:spPr>
          <a:xfrm>
            <a:off x="4362450" y="3714750"/>
            <a:ext cx="2952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900" b="1">
                <a:solidFill>
                  <a:srgbClr val="B8322A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900" b="1">
                <a:solidFill>
                  <a:srgbClr val="B8322A"/>
                </a:solidFill>
                <a:latin typeface="Noto Sans KR Thin"/>
                <a:ea typeface="Noto Sans KR Thin"/>
                <a:cs typeface="Noto Sans KR Thin"/>
              </a:rPr>
              <a:t>MANUFACTURING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557E8BF-5663-477A-ABBF-8D2DCC55E4BE}"/>
              </a:ext>
            </a:extLst>
          </p:cNvPr>
          <p:cNvSpPr>
            <a:spLocks noGrp="1"/>
          </p:cNvSpPr>
          <p:nvPr/>
        </p:nvSpPr>
        <p:spPr>
          <a:xfrm>
            <a:off x="4362450" y="4048125"/>
            <a:ext cx="29527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2025" b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2025" b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제조 운영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03301CB-2184-4A4A-8F09-591E43A11875}"/>
              </a:ext>
            </a:extLst>
          </p:cNvPr>
          <p:cNvSpPr>
            <a:spLocks noGrp="1"/>
          </p:cNvSpPr>
          <p:nvPr/>
        </p:nvSpPr>
        <p:spPr>
          <a:xfrm>
            <a:off x="4362450" y="4591050"/>
            <a:ext cx="3048000" cy="1028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1350" b="0">
                <a:solidFill>
                  <a:srgbClr val="66615B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350" b="0">
                <a:solidFill>
                  <a:srgbClr val="66615B"/>
                </a:solidFill>
                <a:latin typeface="Noto Sans KR Thin"/>
                <a:ea typeface="Noto Sans KR Thin"/>
                <a:cs typeface="Noto Sans KR Thin"/>
              </a:rPr>
              <a:t>원가와 생산 가능량, 품질 관리와 납기 변수를 고려합니다. 실행할 수 없는 판매 약속을 만들지 않습니다.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E3F4896-33A6-498C-9A00-F908DBEC694E}"/>
              </a:ext>
            </a:extLst>
          </p:cNvPr>
          <p:cNvSpPr>
            <a:spLocks noGrp="1"/>
          </p:cNvSpPr>
          <p:nvPr/>
        </p:nvSpPr>
        <p:spPr>
          <a:xfrm>
            <a:off x="7734300" y="3762375"/>
            <a:ext cx="19050" cy="1905000"/>
          </a:xfrm>
          <a:prstGeom prst="rect">
            <a:avLst/>
          </a:prstGeom>
          <a:solidFill>
            <a:srgbClr val="D9D0C4"/>
          </a:solidFill>
          <a:ln w="0">
            <a:noFill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2DD4832-3C90-4526-95F5-3F6E37615AA4}"/>
              </a:ext>
            </a:extLst>
          </p:cNvPr>
          <p:cNvSpPr>
            <a:spLocks noGrp="1"/>
          </p:cNvSpPr>
          <p:nvPr/>
        </p:nvSpPr>
        <p:spPr>
          <a:xfrm>
            <a:off x="8020050" y="3714750"/>
            <a:ext cx="2952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900" b="1">
                <a:solidFill>
                  <a:srgbClr val="B8322A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900" b="1">
                <a:solidFill>
                  <a:srgbClr val="B8322A"/>
                </a:solidFill>
                <a:latin typeface="Noto Sans KR Thin"/>
                <a:ea typeface="Noto Sans KR Thin"/>
                <a:cs typeface="Noto Sans KR Thin"/>
              </a:rPr>
              <a:t>DISTRIBUTION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5BA3CA4-484A-4CD6-BF79-B6052337643E}"/>
              </a:ext>
            </a:extLst>
          </p:cNvPr>
          <p:cNvSpPr>
            <a:spLocks noGrp="1"/>
          </p:cNvSpPr>
          <p:nvPr/>
        </p:nvSpPr>
        <p:spPr>
          <a:xfrm>
            <a:off x="8020050" y="4048125"/>
            <a:ext cx="29527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2025" b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2025" b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유통 운영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DB6FB59-AB8A-4842-A262-4ADCBB8F2E41}"/>
              </a:ext>
            </a:extLst>
          </p:cNvPr>
          <p:cNvSpPr>
            <a:spLocks noGrp="1"/>
          </p:cNvSpPr>
          <p:nvPr/>
        </p:nvSpPr>
        <p:spPr>
          <a:xfrm>
            <a:off x="8020050" y="4591050"/>
            <a:ext cx="3048000" cy="1028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1350" b="0">
                <a:solidFill>
                  <a:srgbClr val="66615B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350" b="0">
                <a:solidFill>
                  <a:srgbClr val="66615B"/>
                </a:solidFill>
                <a:latin typeface="Noto Sans KR Thin"/>
                <a:ea typeface="Noto Sans KR Thin"/>
                <a:cs typeface="Noto Sans KR Thin"/>
              </a:rPr>
              <a:t>재고와 출고, 반품, 정산 흐름을 연결합니다. 판매 이후까지 안정적으로 돌아가는 구조를 설계합니다.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37C5B90-A48E-4874-BF77-EB2580E36E1E}"/>
              </a:ext>
            </a:extLst>
          </p:cNvPr>
          <p:cNvSpPr>
            <a:spLocks noGrp="1"/>
          </p:cNvSpPr>
          <p:nvPr/>
        </p:nvSpPr>
        <p:spPr>
          <a:xfrm>
            <a:off x="704850" y="5943600"/>
            <a:ext cx="10782300" cy="5143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2838DE7-06FF-4E7B-8809-A28E63E7B109}"/>
              </a:ext>
            </a:extLst>
          </p:cNvPr>
          <p:cNvSpPr>
            <a:spLocks noGrp="1"/>
          </p:cNvSpPr>
          <p:nvPr/>
        </p:nvSpPr>
        <p:spPr>
          <a:xfrm>
            <a:off x="952500" y="6019800"/>
            <a:ext cx="102870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425" b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rPr>
              <a:t>End-to-End 운영 경험은 정보 비대칭을 줄이고, 더 현실적인 협업 판단으로 이어집니다</a:t>
            </a:r>
          </a:p>
        </p:txBody>
      </p:sp>
    </p:spTree>
    <p:extLst>
      <p:ext uri="{BB962C8B-B14F-4D97-AF65-F5344CB8AC3E}">
        <p14:creationId xmlns:p14="http://schemas.microsoft.com/office/powerpoint/2010/main" val="1250102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6C3ABB8D-E5B7-4A84-B956-0538752D9492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857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1650" b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650" b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TDC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F562EBE-7E72-4565-BBBA-20DB3443A9AA}"/>
              </a:ext>
            </a:extLst>
          </p:cNvPr>
          <p:cNvSpPr>
            <a:spLocks noGrp="1"/>
          </p:cNvSpPr>
          <p:nvPr/>
        </p:nvSpPr>
        <p:spPr>
          <a:xfrm>
            <a:off x="1381125" y="304800"/>
            <a:ext cx="47625" cy="228600"/>
          </a:xfrm>
          <a:prstGeom prst="rect">
            <a:avLst/>
          </a:prstGeom>
          <a:solidFill>
            <a:srgbClr val="B8322A"/>
          </a:solidFill>
          <a:ln w="0">
            <a:noFill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5E4C33E-8003-417B-81B6-6B382F4C237F}"/>
              </a:ext>
            </a:extLst>
          </p:cNvPr>
          <p:cNvSpPr>
            <a:spLocks noGrp="1"/>
          </p:cNvSpPr>
          <p:nvPr/>
        </p:nvSpPr>
        <p:spPr>
          <a:xfrm>
            <a:off x="1543050" y="266700"/>
            <a:ext cx="1238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900" b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900" b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COLLECTIVE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37F1C54-47C1-4698-AA9A-583D6B922EBA}"/>
              </a:ext>
            </a:extLst>
          </p:cNvPr>
          <p:cNvSpPr>
            <a:spLocks noGrp="1"/>
          </p:cNvSpPr>
          <p:nvPr/>
        </p:nvSpPr>
        <p:spPr>
          <a:xfrm>
            <a:off x="9477375" y="266700"/>
            <a:ext cx="2000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825" b="1">
                <a:solidFill>
                  <a:srgbClr val="B8322A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825" b="1">
                <a:solidFill>
                  <a:srgbClr val="B8322A"/>
                </a:solidFill>
                <a:latin typeface="Noto Sans KR Thin"/>
                <a:ea typeface="Noto Sans KR Thin"/>
                <a:cs typeface="Noto Sans KR Thin"/>
              </a:rPr>
              <a:t>COMPANY INTRODUCTION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5D5305A-6881-4ED3-A5CC-CBC18D5512C8}"/>
              </a:ext>
            </a:extLst>
          </p:cNvPr>
          <p:cNvSpPr>
            <a:spLocks noGrp="1"/>
          </p:cNvSpPr>
          <p:nvPr/>
        </p:nvSpPr>
        <p:spPr>
          <a:xfrm>
            <a:off x="11239500" y="6362700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825" b="0">
                <a:solidFill>
                  <a:srgbClr val="66615B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825" b="0">
                <a:solidFill>
                  <a:srgbClr val="66615B"/>
                </a:solidFill>
                <a:latin typeface="Noto Sans KR Thin"/>
                <a:ea typeface="Noto Sans KR Thin"/>
                <a:cs typeface="Noto Sans KR Thin"/>
              </a:rPr>
              <a:t>04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FCD963E-E4E4-4225-9D20-626E767D122C}"/>
              </a:ext>
            </a:extLst>
          </p:cNvPr>
          <p:cNvSpPr>
            <a:spLocks noGrp="1"/>
          </p:cNvSpPr>
          <p:nvPr/>
        </p:nvSpPr>
        <p:spPr>
          <a:xfrm>
            <a:off x="666750" y="1129810"/>
            <a:ext cx="104775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2850" b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2850" b="1" dirty="0" err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신뢰를</a:t>
            </a:r>
            <a:r>
              <a:rPr sz="2850" b="1" dirty="0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 </a:t>
            </a:r>
            <a:r>
              <a:rPr sz="2850" b="1" dirty="0" err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만드는</a:t>
            </a:r>
            <a:r>
              <a:rPr sz="2850" b="1" dirty="0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 </a:t>
            </a:r>
            <a:r>
              <a:rPr sz="2850" b="1" dirty="0" err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설계</a:t>
            </a:r>
            <a:r>
              <a:rPr sz="2850" b="1" dirty="0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 </a:t>
            </a:r>
            <a:r>
              <a:rPr sz="2850" b="1" dirty="0" err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원칙</a:t>
            </a:r>
            <a:endParaRPr sz="2850" b="1" dirty="0">
              <a:solidFill>
                <a:srgbClr val="171717"/>
              </a:solidFill>
              <a:latin typeface="Noto Sans KR Thin"/>
              <a:ea typeface="Noto Sans KR Thin"/>
              <a:cs typeface="Noto Sans KR Thin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409E427-B12E-4405-BC43-0D60A20BDF15}"/>
              </a:ext>
            </a:extLst>
          </p:cNvPr>
          <p:cNvSpPr>
            <a:spLocks noGrp="1"/>
          </p:cNvSpPr>
          <p:nvPr/>
        </p:nvSpPr>
        <p:spPr>
          <a:xfrm>
            <a:off x="685800" y="2076450"/>
            <a:ext cx="685800" cy="47625"/>
          </a:xfrm>
          <a:prstGeom prst="rect">
            <a:avLst/>
          </a:prstGeom>
          <a:solidFill>
            <a:srgbClr val="B8322A"/>
          </a:solidFill>
          <a:ln w="0">
            <a:noFill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CE2CBD7-052C-4BBC-BE09-417A798C5775}"/>
              </a:ext>
            </a:extLst>
          </p:cNvPr>
          <p:cNvSpPr>
            <a:spLocks noGrp="1"/>
          </p:cNvSpPr>
          <p:nvPr/>
        </p:nvSpPr>
        <p:spPr>
          <a:xfrm>
            <a:off x="742950" y="2381250"/>
            <a:ext cx="4572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1350" b="1">
                <a:solidFill>
                  <a:srgbClr val="B8322A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350" b="1">
                <a:solidFill>
                  <a:srgbClr val="B8322A"/>
                </a:solidFill>
                <a:latin typeface="Noto Sans KR Thin"/>
                <a:ea typeface="Noto Sans KR Thin"/>
                <a:cs typeface="Noto Sans KR Thin"/>
              </a:rPr>
              <a:t>01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BA02B07-D37A-42CC-96C7-0D86BF05A51E}"/>
              </a:ext>
            </a:extLst>
          </p:cNvPr>
          <p:cNvSpPr>
            <a:spLocks noGrp="1"/>
          </p:cNvSpPr>
          <p:nvPr/>
        </p:nvSpPr>
        <p:spPr>
          <a:xfrm>
            <a:off x="1381125" y="2381250"/>
            <a:ext cx="22860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1875" b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875" b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인지적 유창성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17035DF-18CA-46B9-B558-402F90ABE805}"/>
              </a:ext>
            </a:extLst>
          </p:cNvPr>
          <p:cNvSpPr>
            <a:spLocks noGrp="1"/>
          </p:cNvSpPr>
          <p:nvPr/>
        </p:nvSpPr>
        <p:spPr>
          <a:xfrm>
            <a:off x="4000500" y="2362200"/>
            <a:ext cx="6953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1350" b="0">
                <a:solidFill>
                  <a:srgbClr val="66615B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350" b="0">
                <a:solidFill>
                  <a:srgbClr val="66615B"/>
                </a:solidFill>
                <a:latin typeface="Noto Sans KR Thin"/>
                <a:ea typeface="Noto Sans KR Thin"/>
                <a:cs typeface="Noto Sans KR Thin"/>
              </a:rPr>
              <a:t>복잡한 조건을 쉽게 이해할 수 있도록 정보 순서와 표현을 정리합니다.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CA2D0FA-90E7-4327-B429-6A445F1131AD}"/>
              </a:ext>
            </a:extLst>
          </p:cNvPr>
          <p:cNvSpPr>
            <a:spLocks noGrp="1"/>
          </p:cNvSpPr>
          <p:nvPr/>
        </p:nvSpPr>
        <p:spPr>
          <a:xfrm>
            <a:off x="1381125" y="2952750"/>
            <a:ext cx="9572625" cy="19050"/>
          </a:xfrm>
          <a:prstGeom prst="rect">
            <a:avLst/>
          </a:prstGeom>
          <a:solidFill>
            <a:srgbClr val="E7DED2"/>
          </a:solidFill>
          <a:ln w="0">
            <a:noFill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3B17D54-3597-4500-8B13-C0DB1038B8CF}"/>
              </a:ext>
            </a:extLst>
          </p:cNvPr>
          <p:cNvSpPr>
            <a:spLocks noGrp="1"/>
          </p:cNvSpPr>
          <p:nvPr/>
        </p:nvSpPr>
        <p:spPr>
          <a:xfrm>
            <a:off x="742950" y="3257550"/>
            <a:ext cx="4572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1350" b="1">
                <a:solidFill>
                  <a:srgbClr val="B8322A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350" b="1">
                <a:solidFill>
                  <a:srgbClr val="B8322A"/>
                </a:solidFill>
                <a:latin typeface="Noto Sans KR Thin"/>
                <a:ea typeface="Noto Sans KR Thin"/>
                <a:cs typeface="Noto Sans KR Thin"/>
              </a:rPr>
              <a:t>02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2FC89F1-2D63-44DF-B352-8879AB0AC44C}"/>
              </a:ext>
            </a:extLst>
          </p:cNvPr>
          <p:cNvSpPr>
            <a:spLocks noGrp="1"/>
          </p:cNvSpPr>
          <p:nvPr/>
        </p:nvSpPr>
        <p:spPr>
          <a:xfrm>
            <a:off x="1381125" y="3257550"/>
            <a:ext cx="22860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1875" b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875" b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선택 구조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64F5443-7D71-47EC-BE5B-46D9F32D1A15}"/>
              </a:ext>
            </a:extLst>
          </p:cNvPr>
          <p:cNvSpPr>
            <a:spLocks noGrp="1"/>
          </p:cNvSpPr>
          <p:nvPr/>
        </p:nvSpPr>
        <p:spPr>
          <a:xfrm>
            <a:off x="4000500" y="3238500"/>
            <a:ext cx="6953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1350" b="0">
                <a:solidFill>
                  <a:srgbClr val="66615B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350" b="0">
                <a:solidFill>
                  <a:srgbClr val="66615B"/>
                </a:solidFill>
                <a:latin typeface="Noto Sans KR Thin"/>
                <a:ea typeface="Noto Sans KR Thin"/>
                <a:cs typeface="Noto Sans KR Thin"/>
              </a:rPr>
              <a:t>상품을 무작정 늘리지 않고 검토된 선택지를 제시해 의사결정 피로를 줄입니다.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65483A3-7A26-4693-9DF2-C748A1C2B3F0}"/>
              </a:ext>
            </a:extLst>
          </p:cNvPr>
          <p:cNvSpPr>
            <a:spLocks noGrp="1"/>
          </p:cNvSpPr>
          <p:nvPr/>
        </p:nvSpPr>
        <p:spPr>
          <a:xfrm>
            <a:off x="1381125" y="3829050"/>
            <a:ext cx="9572625" cy="19050"/>
          </a:xfrm>
          <a:prstGeom prst="rect">
            <a:avLst/>
          </a:prstGeom>
          <a:solidFill>
            <a:srgbClr val="E7DED2"/>
          </a:solidFill>
          <a:ln w="0">
            <a:noFill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9276209-F8B5-41BE-A703-59806C852BAD}"/>
              </a:ext>
            </a:extLst>
          </p:cNvPr>
          <p:cNvSpPr>
            <a:spLocks noGrp="1"/>
          </p:cNvSpPr>
          <p:nvPr/>
        </p:nvSpPr>
        <p:spPr>
          <a:xfrm>
            <a:off x="742950" y="4133850"/>
            <a:ext cx="4572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1350" b="1">
                <a:solidFill>
                  <a:srgbClr val="B8322A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350" b="1">
                <a:solidFill>
                  <a:srgbClr val="B8322A"/>
                </a:solidFill>
                <a:latin typeface="Noto Sans KR Thin"/>
                <a:ea typeface="Noto Sans KR Thin"/>
                <a:cs typeface="Noto Sans KR Thin"/>
              </a:rPr>
              <a:t>03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B5F2156-64E3-4669-97C4-FA810856E40C}"/>
              </a:ext>
            </a:extLst>
          </p:cNvPr>
          <p:cNvSpPr>
            <a:spLocks noGrp="1"/>
          </p:cNvSpPr>
          <p:nvPr/>
        </p:nvSpPr>
        <p:spPr>
          <a:xfrm>
            <a:off x="1381125" y="4133850"/>
            <a:ext cx="22860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1875" b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875" b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신뢰 전이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2A4F0B0-48BA-4A72-A6B0-714791B2068F}"/>
              </a:ext>
            </a:extLst>
          </p:cNvPr>
          <p:cNvSpPr>
            <a:spLocks noGrp="1"/>
          </p:cNvSpPr>
          <p:nvPr/>
        </p:nvSpPr>
        <p:spPr>
          <a:xfrm>
            <a:off x="4000500" y="4114800"/>
            <a:ext cx="6953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1350" b="0">
                <a:solidFill>
                  <a:srgbClr val="66615B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350" b="0">
                <a:solidFill>
                  <a:srgbClr val="66615B"/>
                </a:solidFill>
                <a:latin typeface="Noto Sans KR Thin"/>
                <a:ea typeface="Noto Sans KR Thin"/>
                <a:cs typeface="Noto Sans KR Thin"/>
              </a:rPr>
              <a:t>크리에이터의 신뢰가 상품 발견으로 이어지되, 제품 정보와 운영 기준이 그 신뢰를 뒷받침합니다.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36F1632-F983-458C-BE06-960A5C89D299}"/>
              </a:ext>
            </a:extLst>
          </p:cNvPr>
          <p:cNvSpPr>
            <a:spLocks noGrp="1"/>
          </p:cNvSpPr>
          <p:nvPr/>
        </p:nvSpPr>
        <p:spPr>
          <a:xfrm>
            <a:off x="1381125" y="4705350"/>
            <a:ext cx="9572625" cy="19050"/>
          </a:xfrm>
          <a:prstGeom prst="rect">
            <a:avLst/>
          </a:prstGeom>
          <a:solidFill>
            <a:srgbClr val="E7DED2"/>
          </a:solidFill>
          <a:ln w="0">
            <a:noFill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41CA618-EE92-44D1-BC1A-EA0F5D33DB82}"/>
              </a:ext>
            </a:extLst>
          </p:cNvPr>
          <p:cNvSpPr>
            <a:spLocks noGrp="1"/>
          </p:cNvSpPr>
          <p:nvPr/>
        </p:nvSpPr>
        <p:spPr>
          <a:xfrm>
            <a:off x="742950" y="5010150"/>
            <a:ext cx="4572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1350" b="1">
                <a:solidFill>
                  <a:srgbClr val="B8322A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350" b="1">
                <a:solidFill>
                  <a:srgbClr val="B8322A"/>
                </a:solidFill>
                <a:latin typeface="Noto Sans KR Thin"/>
                <a:ea typeface="Noto Sans KR Thin"/>
                <a:cs typeface="Noto Sans KR Thin"/>
              </a:rPr>
              <a:t>04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446484F-83F3-4308-A6B4-8EEE63FD3D30}"/>
              </a:ext>
            </a:extLst>
          </p:cNvPr>
          <p:cNvSpPr>
            <a:spLocks noGrp="1"/>
          </p:cNvSpPr>
          <p:nvPr/>
        </p:nvSpPr>
        <p:spPr>
          <a:xfrm>
            <a:off x="1381125" y="5010150"/>
            <a:ext cx="22860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1875" b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875" b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인센티브 정렬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88783F6-16DA-4849-8AAF-E409AED89405}"/>
              </a:ext>
            </a:extLst>
          </p:cNvPr>
          <p:cNvSpPr>
            <a:spLocks noGrp="1"/>
          </p:cNvSpPr>
          <p:nvPr/>
        </p:nvSpPr>
        <p:spPr>
          <a:xfrm>
            <a:off x="4000500" y="4991100"/>
            <a:ext cx="6953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1350" b="0">
                <a:solidFill>
                  <a:srgbClr val="66615B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350" b="0">
                <a:solidFill>
                  <a:srgbClr val="66615B"/>
                </a:solidFill>
                <a:latin typeface="Noto Sans KR Thin"/>
                <a:ea typeface="Noto Sans KR Thin"/>
                <a:cs typeface="Noto Sans KR Thin"/>
              </a:rPr>
              <a:t>고정 광고비보다 성과 연동 구조를 우선해 브랜드와 운영사의 이해관계를 맞춥니다.</a:t>
            </a:r>
          </a:p>
        </p:txBody>
      </p:sp>
    </p:spTree>
    <p:extLst>
      <p:ext uri="{BB962C8B-B14F-4D97-AF65-F5344CB8AC3E}">
        <p14:creationId xmlns:p14="http://schemas.microsoft.com/office/powerpoint/2010/main" val="309823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FD04ADC6-7754-4BA5-9ABF-9C4F2445153C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857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1650" b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650" b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TDC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551478C-7101-4165-81D2-B61DF640C1AD}"/>
              </a:ext>
            </a:extLst>
          </p:cNvPr>
          <p:cNvSpPr>
            <a:spLocks noGrp="1"/>
          </p:cNvSpPr>
          <p:nvPr/>
        </p:nvSpPr>
        <p:spPr>
          <a:xfrm>
            <a:off x="1381125" y="304800"/>
            <a:ext cx="47625" cy="228600"/>
          </a:xfrm>
          <a:prstGeom prst="rect">
            <a:avLst/>
          </a:prstGeom>
          <a:solidFill>
            <a:srgbClr val="B8322A"/>
          </a:solidFill>
          <a:ln w="0">
            <a:noFill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5D11B46-1464-49E2-B6C7-AAAE258AA92B}"/>
              </a:ext>
            </a:extLst>
          </p:cNvPr>
          <p:cNvSpPr>
            <a:spLocks noGrp="1"/>
          </p:cNvSpPr>
          <p:nvPr/>
        </p:nvSpPr>
        <p:spPr>
          <a:xfrm>
            <a:off x="1543050" y="266700"/>
            <a:ext cx="1238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900" b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900" b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COLLECTIVE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0EFA164-86ED-4ABE-BE9F-134AFA5E62F1}"/>
              </a:ext>
            </a:extLst>
          </p:cNvPr>
          <p:cNvSpPr>
            <a:spLocks noGrp="1"/>
          </p:cNvSpPr>
          <p:nvPr/>
        </p:nvSpPr>
        <p:spPr>
          <a:xfrm>
            <a:off x="9477375" y="266700"/>
            <a:ext cx="2000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825" b="1">
                <a:solidFill>
                  <a:srgbClr val="B8322A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825" b="1">
                <a:solidFill>
                  <a:srgbClr val="B8322A"/>
                </a:solidFill>
                <a:latin typeface="Noto Sans KR Thin"/>
                <a:ea typeface="Noto Sans KR Thin"/>
                <a:cs typeface="Noto Sans KR Thin"/>
              </a:rPr>
              <a:t>COMPANY INTRODUCTION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76E1049-5D7F-435C-B97D-D897452E9ADD}"/>
              </a:ext>
            </a:extLst>
          </p:cNvPr>
          <p:cNvSpPr>
            <a:spLocks noGrp="1"/>
          </p:cNvSpPr>
          <p:nvPr/>
        </p:nvSpPr>
        <p:spPr>
          <a:xfrm>
            <a:off x="11239500" y="6362700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825" b="0">
                <a:solidFill>
                  <a:srgbClr val="66615B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825" b="0">
                <a:solidFill>
                  <a:srgbClr val="66615B"/>
                </a:solidFill>
                <a:latin typeface="Noto Sans KR Thin"/>
                <a:ea typeface="Noto Sans KR Thin"/>
                <a:cs typeface="Noto Sans KR Thin"/>
              </a:rPr>
              <a:t>05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85252BB-74F7-4777-A699-708663EE8FC7}"/>
              </a:ext>
            </a:extLst>
          </p:cNvPr>
          <p:cNvSpPr>
            <a:spLocks noGrp="1"/>
          </p:cNvSpPr>
          <p:nvPr/>
        </p:nvSpPr>
        <p:spPr>
          <a:xfrm>
            <a:off x="666750" y="895350"/>
            <a:ext cx="104775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2850" b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2850" b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운영 신뢰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315965D-CE8C-44A4-BD37-BD50563378AF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2870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1350" b="0">
                <a:solidFill>
                  <a:srgbClr val="66615B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350" b="0">
                <a:solidFill>
                  <a:srgbClr val="66615B"/>
                </a:solidFill>
                <a:latin typeface="Noto Sans KR Thin"/>
                <a:ea typeface="Noto Sans KR Thin"/>
                <a:cs typeface="Noto Sans KR Thin"/>
              </a:rPr>
              <a:t>신뢰는 표현보다 역할, 기준과 기록에서 만들어집니다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7993101-C9EC-4709-9D8E-1469181ABD21}"/>
              </a:ext>
            </a:extLst>
          </p:cNvPr>
          <p:cNvSpPr>
            <a:spLocks noGrp="1"/>
          </p:cNvSpPr>
          <p:nvPr/>
        </p:nvSpPr>
        <p:spPr>
          <a:xfrm>
            <a:off x="685800" y="2076450"/>
            <a:ext cx="685800" cy="47625"/>
          </a:xfrm>
          <a:prstGeom prst="rect">
            <a:avLst/>
          </a:prstGeom>
          <a:solidFill>
            <a:srgbClr val="B8322A"/>
          </a:solidFill>
          <a:ln w="0">
            <a:noFill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25079EC-F15A-484A-837E-A0AA7E8A3D5D}"/>
              </a:ext>
            </a:extLst>
          </p:cNvPr>
          <p:cNvSpPr>
            <a:spLocks noGrp="1"/>
          </p:cNvSpPr>
          <p:nvPr/>
        </p:nvSpPr>
        <p:spPr>
          <a:xfrm>
            <a:off x="762000" y="2476500"/>
            <a:ext cx="29527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2025" b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2025" b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투명한 정산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3541D5E-E7E6-4958-AD59-82FA562E50E6}"/>
              </a:ext>
            </a:extLst>
          </p:cNvPr>
          <p:cNvSpPr>
            <a:spLocks noGrp="1"/>
          </p:cNvSpPr>
          <p:nvPr/>
        </p:nvSpPr>
        <p:spPr>
          <a:xfrm>
            <a:off x="762000" y="3048000"/>
            <a:ext cx="409575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1500" b="0">
                <a:solidFill>
                  <a:srgbClr val="66615B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500" b="0">
                <a:solidFill>
                  <a:srgbClr val="66615B"/>
                </a:solidFill>
                <a:latin typeface="Noto Sans KR Thin"/>
                <a:ea typeface="Noto Sans KR Thin"/>
                <a:cs typeface="Noto Sans KR Thin"/>
              </a:rPr>
              <a:t>구매확정과 취소·반품을 반영해 정산 기준을 문서로 합의합니다.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5E1BD06-94F0-4424-9B81-8597A840F030}"/>
              </a:ext>
            </a:extLst>
          </p:cNvPr>
          <p:cNvSpPr>
            <a:spLocks noGrp="1"/>
          </p:cNvSpPr>
          <p:nvPr/>
        </p:nvSpPr>
        <p:spPr>
          <a:xfrm>
            <a:off x="6191250" y="2476500"/>
            <a:ext cx="29527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2025" b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2025" b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통합 고객창구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3F36F07-0194-4ED3-BA80-42FA7BCEE1AB}"/>
              </a:ext>
            </a:extLst>
          </p:cNvPr>
          <p:cNvSpPr>
            <a:spLocks noGrp="1"/>
          </p:cNvSpPr>
          <p:nvPr/>
        </p:nvSpPr>
        <p:spPr>
          <a:xfrm>
            <a:off x="6191250" y="3048000"/>
            <a:ext cx="419100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1500" b="0">
                <a:solidFill>
                  <a:srgbClr val="66615B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500" b="0">
                <a:solidFill>
                  <a:srgbClr val="66615B"/>
                </a:solidFill>
                <a:latin typeface="Noto Sans KR Thin"/>
                <a:ea typeface="Noto Sans KR Thin"/>
                <a:cs typeface="Noto Sans KR Thin"/>
              </a:rPr>
              <a:t>고객 문의와 주문 상태를 TDC가 관리하고, 제품 판단과 출고는 브랜드와 협업합니다.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B32DAD8-BAE9-4C04-B6CC-5F2B9AF50647}"/>
              </a:ext>
            </a:extLst>
          </p:cNvPr>
          <p:cNvSpPr>
            <a:spLocks noGrp="1"/>
          </p:cNvSpPr>
          <p:nvPr/>
        </p:nvSpPr>
        <p:spPr>
          <a:xfrm>
            <a:off x="762000" y="4191000"/>
            <a:ext cx="9906000" cy="19050"/>
          </a:xfrm>
          <a:prstGeom prst="rect">
            <a:avLst/>
          </a:prstGeom>
          <a:solidFill>
            <a:srgbClr val="E7DED2"/>
          </a:solidFill>
          <a:ln w="0">
            <a:noFill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FA4313F-EAA1-4DF7-A439-1D02492C3511}"/>
              </a:ext>
            </a:extLst>
          </p:cNvPr>
          <p:cNvSpPr>
            <a:spLocks noGrp="1"/>
          </p:cNvSpPr>
          <p:nvPr/>
        </p:nvSpPr>
        <p:spPr>
          <a:xfrm>
            <a:off x="762000" y="4619625"/>
            <a:ext cx="29527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2025" b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2025" b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문서 기반 협업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61F0799-E88F-40AC-B1C1-DC454B3BAD08}"/>
              </a:ext>
            </a:extLst>
          </p:cNvPr>
          <p:cNvSpPr>
            <a:spLocks noGrp="1"/>
          </p:cNvSpPr>
          <p:nvPr/>
        </p:nvSpPr>
        <p:spPr>
          <a:xfrm>
            <a:off x="762000" y="5191125"/>
            <a:ext cx="40957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1500" b="0">
                <a:solidFill>
                  <a:srgbClr val="66615B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500" b="0">
                <a:solidFill>
                  <a:srgbClr val="66615B"/>
                </a:solidFill>
                <a:latin typeface="Noto Sans KR Thin"/>
                <a:ea typeface="Noto Sans KR Thin"/>
                <a:cs typeface="Noto Sans KR Thin"/>
              </a:rPr>
              <a:t>역할, 비용, 일정과 책임 범위를 시작 전에 확인합니다.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BFBC344-53B1-4960-89AF-56AE53BBA793}"/>
              </a:ext>
            </a:extLst>
          </p:cNvPr>
          <p:cNvSpPr>
            <a:spLocks noGrp="1"/>
          </p:cNvSpPr>
          <p:nvPr/>
        </p:nvSpPr>
        <p:spPr>
          <a:xfrm>
            <a:off x="6191250" y="4619625"/>
            <a:ext cx="31432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2025" b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2025" b="1">
                <a:solidFill>
                  <a:srgbClr val="171717"/>
                </a:solidFill>
                <a:latin typeface="Noto Sans KR Thin"/>
                <a:ea typeface="Noto Sans KR Thin"/>
                <a:cs typeface="Noto Sans KR Thin"/>
              </a:rPr>
              <a:t>데이터 기반 개선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C6218E2-C0C8-4F6F-B2B1-E7CB4FDFF2D6}"/>
              </a:ext>
            </a:extLst>
          </p:cNvPr>
          <p:cNvSpPr>
            <a:spLocks noGrp="1"/>
          </p:cNvSpPr>
          <p:nvPr/>
        </p:nvSpPr>
        <p:spPr>
          <a:xfrm>
            <a:off x="6191250" y="5191125"/>
            <a:ext cx="4191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1500" b="0">
                <a:solidFill>
                  <a:srgbClr val="66615B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500" b="0">
                <a:solidFill>
                  <a:srgbClr val="66615B"/>
                </a:solidFill>
                <a:latin typeface="Noto Sans KR Thin"/>
                <a:ea typeface="Noto Sans KR Thin"/>
                <a:cs typeface="Noto Sans KR Thin"/>
              </a:rPr>
              <a:t>판매 결과와 운영 이슈를 기록해 다음 협업의 판단 기준으로 사용합니다.</a:t>
            </a:r>
          </a:p>
        </p:txBody>
      </p:sp>
    </p:spTree>
    <p:extLst>
      <p:ext uri="{BB962C8B-B14F-4D97-AF65-F5344CB8AC3E}">
        <p14:creationId xmlns:p14="http://schemas.microsoft.com/office/powerpoint/2010/main" val="775372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8FC673EC-E521-4309-9A3A-A98814089C1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B8322A"/>
          </a:solidFill>
          <a:ln w="0">
            <a:noFill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A5866AF-0196-448D-9971-F0A006516CF3}"/>
              </a:ext>
            </a:extLst>
          </p:cNvPr>
          <p:cNvSpPr>
            <a:spLocks noGrp="1"/>
          </p:cNvSpPr>
          <p:nvPr/>
        </p:nvSpPr>
        <p:spPr>
          <a:xfrm>
            <a:off x="666750" y="523875"/>
            <a:ext cx="857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2100" b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rPr>
              <a:t>TDC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EA59DE1-1259-4B58-BC88-28C19DD7F229}"/>
              </a:ext>
            </a:extLst>
          </p:cNvPr>
          <p:cNvSpPr>
            <a:spLocks noGrp="1"/>
          </p:cNvSpPr>
          <p:nvPr/>
        </p:nvSpPr>
        <p:spPr>
          <a:xfrm>
            <a:off x="1619250" y="571500"/>
            <a:ext cx="47625" cy="285750"/>
          </a:xfrm>
          <a:prstGeom prst="rect">
            <a:avLst/>
          </a:prstGeom>
          <a:solidFill>
            <a:srgbClr val="B8322A"/>
          </a:solidFill>
          <a:ln w="0">
            <a:noFill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0CE96F3-2D77-4C60-8CA4-3BA215ACA107}"/>
              </a:ext>
            </a:extLst>
          </p:cNvPr>
          <p:cNvSpPr>
            <a:spLocks noGrp="1"/>
          </p:cNvSpPr>
          <p:nvPr/>
        </p:nvSpPr>
        <p:spPr>
          <a:xfrm>
            <a:off x="1809750" y="533400"/>
            <a:ext cx="14287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050" b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rPr>
              <a:t>COLLECTIVE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B729660-762D-463B-AC32-8E68E536F194}"/>
              </a:ext>
            </a:extLst>
          </p:cNvPr>
          <p:cNvSpPr>
            <a:spLocks noGrp="1"/>
          </p:cNvSpPr>
          <p:nvPr/>
        </p:nvSpPr>
        <p:spPr>
          <a:xfrm>
            <a:off x="666750" y="1571625"/>
            <a:ext cx="8096250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3150" b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rPr>
              <a:t>좋은 상품이 좋은 사람을 만나,</a:t>
            </a:r>
          </a:p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3150" b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rPr>
              <a:t>신뢰할 수 있는 거래로 이어지도록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D6FD379-9F84-4FB3-8DF7-BABA5D7328F8}"/>
              </a:ext>
            </a:extLst>
          </p:cNvPr>
          <p:cNvSpPr>
            <a:spLocks noGrp="1"/>
          </p:cNvSpPr>
          <p:nvPr/>
        </p:nvSpPr>
        <p:spPr>
          <a:xfrm>
            <a:off x="685800" y="3524250"/>
            <a:ext cx="4000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800" b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rPr>
              <a:t>주식회사 티디씨 컬렉티브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2B5528D-98EB-416E-B385-D418ABEDB263}"/>
              </a:ext>
            </a:extLst>
          </p:cNvPr>
          <p:cNvSpPr>
            <a:spLocks noGrp="1"/>
          </p:cNvSpPr>
          <p:nvPr/>
        </p:nvSpPr>
        <p:spPr>
          <a:xfrm>
            <a:off x="685800" y="4238625"/>
            <a:ext cx="742950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1350" b="0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350" b="0" dirty="0" err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rPr>
              <a:t>대표이사</a:t>
            </a:r>
            <a:r>
              <a:rPr sz="1350" b="0" dirty="0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rPr>
              <a:t>  </a:t>
            </a:r>
            <a:r>
              <a:rPr sz="1350" b="0" dirty="0" err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rPr>
              <a:t>조성호</a:t>
            </a:r>
            <a:endParaRPr lang="en-US" sz="1350" b="0" dirty="0">
              <a:solidFill>
                <a:srgbClr val="FFFFFF"/>
              </a:solidFill>
              <a:latin typeface="Noto Sans KR Thin"/>
              <a:ea typeface="Noto Sans KR Thin"/>
              <a:cs typeface="Noto Sans KR Thin"/>
            </a:endParaRPr>
          </a:p>
          <a:p>
            <a:pPr>
              <a:lnSpc>
                <a:spcPct val="108000"/>
              </a:lnSpc>
              <a:buNone/>
              <a:defRPr sz="1350" b="0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defRPr>
            </a:pPr>
            <a:endParaRPr sz="1350" b="0" dirty="0">
              <a:solidFill>
                <a:srgbClr val="FFFFFF"/>
              </a:solidFill>
              <a:latin typeface="Noto Sans KR Thin"/>
              <a:ea typeface="Noto Sans KR Thin"/>
              <a:cs typeface="Noto Sans KR Thin"/>
            </a:endParaRPr>
          </a:p>
          <a:p>
            <a:pPr>
              <a:lnSpc>
                <a:spcPct val="108000"/>
              </a:lnSpc>
              <a:buNone/>
              <a:defRPr sz="1350" b="0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350" b="0" dirty="0" err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rPr>
              <a:t>서울특별시</a:t>
            </a:r>
            <a:r>
              <a:rPr sz="1350" b="0" dirty="0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rPr>
              <a:t> </a:t>
            </a:r>
            <a:r>
              <a:rPr sz="1350" b="0" dirty="0" err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rPr>
              <a:t>강남구</a:t>
            </a:r>
            <a:r>
              <a:rPr sz="1350" b="0" dirty="0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rPr>
              <a:t> 테헤란로79길 6, </a:t>
            </a:r>
            <a:r>
              <a:rPr sz="1350" b="0" dirty="0" err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rPr>
              <a:t>JS타워</a:t>
            </a:r>
            <a:r>
              <a:rPr sz="1350" b="0" dirty="0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rPr>
              <a:t> 3층</a:t>
            </a:r>
            <a:endParaRPr lang="en-US" sz="1350" b="0" dirty="0">
              <a:solidFill>
                <a:srgbClr val="FFFFFF"/>
              </a:solidFill>
              <a:latin typeface="Noto Sans KR Thin"/>
              <a:ea typeface="Noto Sans KR Thin"/>
              <a:cs typeface="Noto Sans KR Thin"/>
            </a:endParaRPr>
          </a:p>
          <a:p>
            <a:pPr>
              <a:lnSpc>
                <a:spcPct val="108000"/>
              </a:lnSpc>
              <a:buNone/>
              <a:defRPr sz="1350" b="0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defRPr>
            </a:pPr>
            <a:endParaRPr lang="en-US" sz="1350" dirty="0">
              <a:solidFill>
                <a:srgbClr val="FFFFFF"/>
              </a:solidFill>
              <a:latin typeface="Noto Sans KR Thin"/>
              <a:ea typeface="Noto Sans KR Thin"/>
              <a:cs typeface="Noto Sans KR Thin"/>
            </a:endParaRPr>
          </a:p>
          <a:p>
            <a:pPr>
              <a:lnSpc>
                <a:spcPct val="108000"/>
              </a:lnSpc>
              <a:buNone/>
              <a:defRPr sz="1350" b="0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lang="en-US" altLang="ko-GH" sz="1350" dirty="0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rPr>
              <a:t>t</a:t>
            </a:r>
            <a:r>
              <a:rPr lang="en-US" altLang="ko-KR" sz="1350" dirty="0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rPr>
              <a:t>dc010@naver.com</a:t>
            </a:r>
            <a:endParaRPr sz="1350" b="0" dirty="0">
              <a:solidFill>
                <a:srgbClr val="FFFFFF"/>
              </a:solidFill>
              <a:latin typeface="Noto Sans KR Thin"/>
              <a:ea typeface="Noto Sans KR Thin"/>
              <a:cs typeface="Noto Sans KR Thin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DD36F11-E442-4C11-8820-55F444DD492E}"/>
              </a:ext>
            </a:extLst>
          </p:cNvPr>
          <p:cNvSpPr>
            <a:spLocks noGrp="1"/>
          </p:cNvSpPr>
          <p:nvPr/>
        </p:nvSpPr>
        <p:spPr>
          <a:xfrm>
            <a:off x="685800" y="5334000"/>
            <a:ext cx="3429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B8322A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500" b="1">
                <a:solidFill>
                  <a:srgbClr val="B8322A"/>
                </a:solidFill>
                <a:latin typeface="Noto Sans KR Thin"/>
                <a:ea typeface="Noto Sans KR Thin"/>
                <a:cs typeface="Noto Sans KR Thin"/>
              </a:rPr>
              <a:t>tdccollective.co.kr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A4B536-6F28-40AB-AB51-D9B833BC1D60}"/>
              </a:ext>
            </a:extLst>
          </p:cNvPr>
          <p:cNvSpPr>
            <a:spLocks noGrp="1"/>
          </p:cNvSpPr>
          <p:nvPr/>
        </p:nvSpPr>
        <p:spPr>
          <a:xfrm>
            <a:off x="685800" y="5734050"/>
            <a:ext cx="2667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B8322A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500" b="1">
                <a:solidFill>
                  <a:srgbClr val="B8322A"/>
                </a:solidFill>
                <a:latin typeface="Noto Sans KR Thin"/>
                <a:ea typeface="Noto Sans KR Thin"/>
                <a:cs typeface="Noto Sans KR Thin"/>
              </a:rPr>
              <a:t>sa-da.shop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2ABC26B-B7ED-4EF9-9D19-012877327290}"/>
              </a:ext>
            </a:extLst>
          </p:cNvPr>
          <p:cNvSpPr>
            <a:spLocks noGrp="1"/>
          </p:cNvSpPr>
          <p:nvPr/>
        </p:nvSpPr>
        <p:spPr>
          <a:xfrm>
            <a:off x="7429500" y="5619750"/>
            <a:ext cx="39052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200" b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rPr>
              <a:t>BRAND  ×  CREATOR  ×  SADA</a:t>
            </a:r>
          </a:p>
        </p:txBody>
      </p:sp>
    </p:spTree>
    <p:extLst>
      <p:ext uri="{BB962C8B-B14F-4D97-AF65-F5344CB8AC3E}">
        <p14:creationId xmlns:p14="http://schemas.microsoft.com/office/powerpoint/2010/main" val="185165481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466</Words>
  <Application>Microsoft Macintosh PowerPoint</Application>
  <DocSecurity>0</DocSecurity>
  <PresentationFormat>와이드스크린</PresentationFormat>
  <Paragraphs>103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Noto Sans KR Thin</vt:lpstr>
      <vt:lpstr>Aptos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tmsk0823@naver.com</cp:lastModifiedBy>
  <cp:revision>1</cp:revision>
  <dcterms:created xsi:type="dcterms:W3CDTF">2026-10-01T06:16:38Z</dcterms:created>
  <dcterms:modified xsi:type="dcterms:W3CDTF">2026-10-01T06:29:27Z</dcterms:modified>
</cp:coreProperties>
</file>